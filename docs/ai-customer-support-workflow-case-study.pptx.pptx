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oboto"/>
      <p:regular r:id="rId14"/>
      <p:bold r:id="rId15"/>
      <p:italic r:id="rId16"/>
      <p:boldItalic r:id="rId17"/>
    </p:embeddedFont>
    <p:embeddedFont>
      <p:font typeface="Inter"/>
      <p:regular r:id="rId18"/>
      <p:bold r:id="rId19"/>
      <p:italic r:id="rId20"/>
      <p:boldItalic r:id="rId21"/>
    </p:embeddedFont>
    <p:embeddedFont>
      <p:font typeface="Inter ExtraBold"/>
      <p:bold r:id="rId22"/>
      <p:boldItalic r:id="rId23"/>
    </p:embeddedFont>
    <p:embeddedFont>
      <p:font typeface="Inter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8E12C2-9382-4448-9590-6D7A7A2620EE}">
  <a:tblStyle styleId="{518E12C2-9382-4448-9590-6D7A7A2620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InterExtraBold-bold.fntdata"/><Relationship Id="rId21" Type="http://schemas.openxmlformats.org/officeDocument/2006/relationships/font" Target="fonts/Inter-boldItalic.fntdata"/><Relationship Id="rId24" Type="http://schemas.openxmlformats.org/officeDocument/2006/relationships/font" Target="fonts/InterMedium-regular.fntdata"/><Relationship Id="rId23" Type="http://schemas.openxmlformats.org/officeDocument/2006/relationships/font" Target="fonts/InterExtra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Medium-italic.fntdata"/><Relationship Id="rId25" Type="http://schemas.openxmlformats.org/officeDocument/2006/relationships/font" Target="fonts/InterMedium-bold.fntdata"/><Relationship Id="rId27" Type="http://schemas.openxmlformats.org/officeDocument/2006/relationships/font" Target="fonts/Inter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e7cf68d7d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e7cf68d7d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e7cf68d7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6e7cf68d7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0" y="638300"/>
            <a:ext cx="8520600" cy="27510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AI-Powered Customer Support Workflow </a:t>
            </a:r>
            <a:endParaRPr sz="5800">
              <a:solidFill>
                <a:srgbClr val="1A1A1A"/>
              </a:solidFill>
              <a:latin typeface="Inter ExtraBold"/>
              <a:ea typeface="Inter ExtraBold"/>
              <a:cs typeface="Inter ExtraBold"/>
              <a:sym typeface="Inter ExtraBold"/>
            </a:endParaRPr>
          </a:p>
          <a:p>
            <a:pPr indent="0" lvl="0" marL="0" rtl="0" algn="l">
              <a:spcBef>
                <a:spcPts val="1000"/>
              </a:spcBef>
              <a:spcAft>
                <a:spcPts val="0"/>
              </a:spcAft>
              <a:buClr>
                <a:schemeClr val="dk1"/>
              </a:buClr>
              <a:buSzPts val="1100"/>
              <a:buFont typeface="Arial"/>
              <a:buNone/>
            </a:pPr>
            <a:r>
              <a:t/>
            </a:r>
            <a:endParaRPr sz="60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29975" y="4115000"/>
            <a:ext cx="8686800" cy="73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A2A2A"/>
                </a:solidFill>
                <a:latin typeface="Inter Medium"/>
                <a:ea typeface="Inter Medium"/>
                <a:cs typeface="Inter Medium"/>
                <a:sym typeface="Inter Medium"/>
              </a:rPr>
              <a:t>Lesley Colon</a:t>
            </a:r>
            <a:endParaRPr sz="1200">
              <a:solidFill>
                <a:srgbClr val="2A2A2A"/>
              </a:solidFill>
              <a:latin typeface="Inter Medium"/>
              <a:ea typeface="Inter Medium"/>
              <a:cs typeface="Inter Medium"/>
              <a:sym typeface="Inter Medium"/>
            </a:endParaRPr>
          </a:p>
          <a:p>
            <a:pPr indent="0" lvl="0" marL="0" rtl="0" algn="l">
              <a:spcBef>
                <a:spcPts val="1200"/>
              </a:spcBef>
              <a:spcAft>
                <a:spcPts val="1200"/>
              </a:spcAft>
              <a:buNone/>
            </a:pPr>
            <a:r>
              <a:rPr lang="en" sz="1200">
                <a:solidFill>
                  <a:srgbClr val="2A2A2A"/>
                </a:solidFill>
                <a:latin typeface="Inter Medium"/>
                <a:ea typeface="Inter Medium"/>
                <a:cs typeface="Inter Medium"/>
                <a:sym typeface="Inter Medium"/>
              </a:rPr>
              <a:t>AI Automation | Project 1 </a:t>
            </a:r>
            <a:endParaRPr sz="1200">
              <a:solidFill>
                <a:srgbClr val="2A2A2A"/>
              </a:solidFill>
              <a:latin typeface="Inter Medium"/>
              <a:ea typeface="Inter Medium"/>
              <a:cs typeface="Inter Medium"/>
              <a:sym typeface="Inter Medium"/>
            </a:endParaRPr>
          </a:p>
        </p:txBody>
      </p:sp>
      <p:sp>
        <p:nvSpPr>
          <p:cNvPr id="85" name="Google Shape;85;p28"/>
          <p:cNvSpPr txBox="1"/>
          <p:nvPr>
            <p:ph idx="4294967295" type="subTitle"/>
          </p:nvPr>
        </p:nvSpPr>
        <p:spPr>
          <a:xfrm>
            <a:off x="129975" y="2595200"/>
            <a:ext cx="8686800" cy="8295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400">
                <a:solidFill>
                  <a:schemeClr val="dk1"/>
                </a:solidFill>
                <a:latin typeface="Roboto"/>
                <a:ea typeface="Roboto"/>
                <a:cs typeface="Roboto"/>
                <a:sym typeface="Roboto"/>
              </a:rPr>
              <a:t>Transforming Customer Support with AI-Driven Workflow Optimization:</a:t>
            </a:r>
            <a:endParaRPr sz="1400">
              <a:solidFill>
                <a:schemeClr val="dk1"/>
              </a:solidFill>
              <a:latin typeface="Roboto"/>
              <a:ea typeface="Roboto"/>
              <a:cs typeface="Roboto"/>
              <a:sym typeface="Roboto"/>
            </a:endParaRPr>
          </a:p>
          <a:p>
            <a:pPr indent="0" lvl="0" marL="0" rtl="0" algn="ctr">
              <a:spcBef>
                <a:spcPts val="0"/>
              </a:spcBef>
              <a:spcAft>
                <a:spcPts val="0"/>
              </a:spcAft>
              <a:buNone/>
            </a:pPr>
            <a:r>
              <a:rPr lang="en" sz="1200">
                <a:solidFill>
                  <a:schemeClr val="dk1"/>
                </a:solidFill>
                <a:latin typeface="Roboto"/>
                <a:ea typeface="Roboto"/>
                <a:cs typeface="Roboto"/>
                <a:sym typeface="Roboto"/>
              </a:rPr>
              <a:t>Analysis, Insights, and Recommendations</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9" name="Shape 89"/>
        <p:cNvGrpSpPr/>
        <p:nvPr/>
      </p:nvGrpSpPr>
      <p:grpSpPr>
        <a:xfrm>
          <a:off x="0" y="0"/>
          <a:ext cx="0" cy="0"/>
          <a:chOff x="0" y="0"/>
          <a:chExt cx="0" cy="0"/>
        </a:xfrm>
      </p:grpSpPr>
      <p:sp>
        <p:nvSpPr>
          <p:cNvPr id="90" name="Google Shape;90;p29"/>
          <p:cNvSpPr txBox="1"/>
          <p:nvPr>
            <p:ph type="ctrTitle"/>
          </p:nvPr>
        </p:nvSpPr>
        <p:spPr>
          <a:xfrm>
            <a:off x="96875" y="424975"/>
            <a:ext cx="8520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dk1"/>
                </a:solidFill>
                <a:latin typeface="Roboto"/>
                <a:ea typeface="Roboto"/>
                <a:cs typeface="Roboto"/>
                <a:sym typeface="Roboto"/>
              </a:rPr>
              <a:t>Transforming Customer Support with AI</a:t>
            </a:r>
            <a:endParaRPr sz="5800">
              <a:solidFill>
                <a:srgbClr val="1A1A1A"/>
              </a:solidFill>
              <a:latin typeface="Inter ExtraBold"/>
              <a:ea typeface="Inter ExtraBold"/>
              <a:cs typeface="Inter ExtraBold"/>
              <a:sym typeface="Inter ExtraBold"/>
            </a:endParaRPr>
          </a:p>
        </p:txBody>
      </p:sp>
      <p:sp>
        <p:nvSpPr>
          <p:cNvPr id="91" name="Google Shape;91;p29"/>
          <p:cNvSpPr txBox="1"/>
          <p:nvPr>
            <p:ph idx="1" type="subTitle"/>
          </p:nvPr>
        </p:nvSpPr>
        <p:spPr>
          <a:xfrm>
            <a:off x="358525" y="2260875"/>
            <a:ext cx="8520600" cy="2616600"/>
          </a:xfrm>
          <a:prstGeom prst="rect">
            <a:avLst/>
          </a:prstGeom>
          <a:noFill/>
          <a:ln>
            <a:noFill/>
          </a:ln>
        </p:spPr>
        <p:txBody>
          <a:bodyPr anchorCtr="0" anchor="b" bIns="91425" lIns="91425" spcFirstLastPara="1" rIns="91425" wrap="square" tIns="91425">
            <a:noAutofit/>
          </a:bodyPr>
          <a:lstStyle/>
          <a:p>
            <a:pPr indent="457200" lvl="0" marL="0" rtl="0" algn="l">
              <a:lnSpc>
                <a:spcPct val="150000"/>
              </a:lnSpc>
              <a:spcBef>
                <a:spcPts val="600"/>
              </a:spcBef>
              <a:spcAft>
                <a:spcPts val="0"/>
              </a:spcAft>
              <a:buClr>
                <a:schemeClr val="dk1"/>
              </a:buClr>
              <a:buSzPts val="1100"/>
              <a:buFont typeface="Arial"/>
              <a:buNone/>
            </a:pPr>
            <a:r>
              <a:rPr lang="en" sz="1200">
                <a:solidFill>
                  <a:schemeClr val="dk1"/>
                </a:solidFill>
                <a:latin typeface="Roboto"/>
                <a:ea typeface="Roboto"/>
                <a:cs typeface="Roboto"/>
                <a:sym typeface="Roboto"/>
              </a:rPr>
              <a:t>Our current customer support process relies on customers reaching out through channels such as email, phone, web forms, or social media, after which support agents manually log and categorize inquiries. Supervisors then assign each case based on the issue type and available staff, and agents investigate, resolve, or escalate issues as needed, often following up to collect feedback. While this approach ensures every request is addressed, it is highly manual, frequently resulting in slow response times, process inefficiencies, and inconsistent customer experiences. The goal of this project is to significantly improve efficiency and service quality by integrating AI-powered solutions that automate routine tasks, streamline workflows, and enable faster, more accurate support for our customers.</a:t>
            </a:r>
            <a:endParaRPr sz="1200">
              <a:solidFill>
                <a:schemeClr val="dk1"/>
              </a:solidFill>
              <a:latin typeface="Roboto"/>
              <a:ea typeface="Roboto"/>
              <a:cs typeface="Roboto"/>
              <a:sym typeface="Roboto"/>
            </a:endParaRPr>
          </a:p>
          <a:p>
            <a:pPr indent="0" lvl="0" marL="457200" rtl="0" algn="l">
              <a:lnSpc>
                <a:spcPct val="150000"/>
              </a:lnSpc>
              <a:spcBef>
                <a:spcPts val="1200"/>
              </a:spcBef>
              <a:spcAft>
                <a:spcPts val="1200"/>
              </a:spcAft>
              <a:buNone/>
            </a:pPr>
            <a:r>
              <a:t/>
            </a:r>
            <a:endParaRPr sz="2000">
              <a:solidFill>
                <a:srgbClr val="1A1A1A"/>
              </a:solidFill>
              <a:latin typeface="Inter"/>
              <a:ea typeface="Inter"/>
              <a:cs typeface="Inter"/>
              <a:sym typeface="Inter"/>
            </a:endParaRPr>
          </a:p>
        </p:txBody>
      </p:sp>
      <p:sp>
        <p:nvSpPr>
          <p:cNvPr id="92" name="Google Shape;92;p29"/>
          <p:cNvSpPr txBox="1"/>
          <p:nvPr/>
        </p:nvSpPr>
        <p:spPr>
          <a:xfrm>
            <a:off x="2171075" y="979925"/>
            <a:ext cx="4372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a:ea typeface="Roboto"/>
                <a:cs typeface="Roboto"/>
                <a:sym typeface="Roboto"/>
              </a:rPr>
              <a:t>Analysis, Insights, &amp; Recommendations</a:t>
            </a:r>
            <a:endParaRPr sz="22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6" name="Shape 96"/>
        <p:cNvGrpSpPr/>
        <p:nvPr/>
      </p:nvGrpSpPr>
      <p:grpSpPr>
        <a:xfrm>
          <a:off x="0" y="0"/>
          <a:ext cx="0" cy="0"/>
          <a:chOff x="0" y="0"/>
          <a:chExt cx="0" cy="0"/>
        </a:xfrm>
      </p:grpSpPr>
      <p:sp>
        <p:nvSpPr>
          <p:cNvPr id="97" name="Google Shape;97;p30"/>
          <p:cNvSpPr txBox="1"/>
          <p:nvPr>
            <p:ph type="ctrTitle"/>
          </p:nvPr>
        </p:nvSpPr>
        <p:spPr>
          <a:xfrm>
            <a:off x="96875" y="424975"/>
            <a:ext cx="8520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1A1A1A"/>
                </a:solidFill>
                <a:latin typeface="Inter ExtraBold"/>
                <a:ea typeface="Inter ExtraBold"/>
                <a:cs typeface="Inter ExtraBold"/>
                <a:sym typeface="Inter ExtraBold"/>
              </a:rPr>
              <a:t>Current Workflow Overview</a:t>
            </a:r>
            <a:endParaRPr sz="3000">
              <a:solidFill>
                <a:srgbClr val="1A1A1A"/>
              </a:solidFill>
              <a:latin typeface="Inter ExtraBold"/>
              <a:ea typeface="Inter ExtraBold"/>
              <a:cs typeface="Inter ExtraBold"/>
              <a:sym typeface="Inter ExtraBold"/>
            </a:endParaRPr>
          </a:p>
        </p:txBody>
      </p:sp>
      <p:sp>
        <p:nvSpPr>
          <p:cNvPr id="98" name="Google Shape;98;p30"/>
          <p:cNvSpPr txBox="1"/>
          <p:nvPr/>
        </p:nvSpPr>
        <p:spPr>
          <a:xfrm>
            <a:off x="1854525" y="18621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99" name="Google Shape;99;p30"/>
          <p:cNvPicPr preferRelativeResize="0"/>
          <p:nvPr/>
        </p:nvPicPr>
        <p:blipFill>
          <a:blip r:embed="rId3">
            <a:alphaModFix/>
          </a:blip>
          <a:stretch>
            <a:fillRect/>
          </a:stretch>
        </p:blipFill>
        <p:spPr>
          <a:xfrm>
            <a:off x="0" y="1540050"/>
            <a:ext cx="9144003" cy="1353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3" name="Shape 103"/>
        <p:cNvGrpSpPr/>
        <p:nvPr/>
      </p:nvGrpSpPr>
      <p:grpSpPr>
        <a:xfrm>
          <a:off x="0" y="0"/>
          <a:ext cx="0" cy="0"/>
          <a:chOff x="0" y="0"/>
          <a:chExt cx="0" cy="0"/>
        </a:xfrm>
      </p:grpSpPr>
      <p:sp>
        <p:nvSpPr>
          <p:cNvPr id="104" name="Google Shape;104;p31"/>
          <p:cNvSpPr txBox="1"/>
          <p:nvPr>
            <p:ph type="ctrTitle"/>
          </p:nvPr>
        </p:nvSpPr>
        <p:spPr>
          <a:xfrm>
            <a:off x="96875" y="57200"/>
            <a:ext cx="8520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1A1A1A"/>
                </a:solidFill>
                <a:latin typeface="Inter ExtraBold"/>
                <a:ea typeface="Inter ExtraBold"/>
                <a:cs typeface="Inter ExtraBold"/>
                <a:sym typeface="Inter ExtraBold"/>
              </a:rPr>
              <a:t>Key Problems Identified</a:t>
            </a:r>
            <a:endParaRPr sz="3000">
              <a:solidFill>
                <a:srgbClr val="1A1A1A"/>
              </a:solidFill>
              <a:latin typeface="Inter ExtraBold"/>
              <a:ea typeface="Inter ExtraBold"/>
              <a:cs typeface="Inter ExtraBold"/>
              <a:sym typeface="Inter ExtraBold"/>
            </a:endParaRPr>
          </a:p>
        </p:txBody>
      </p:sp>
      <p:sp>
        <p:nvSpPr>
          <p:cNvPr id="105" name="Google Shape;105;p31"/>
          <p:cNvSpPr/>
          <p:nvPr/>
        </p:nvSpPr>
        <p:spPr>
          <a:xfrm>
            <a:off x="43650" y="892875"/>
            <a:ext cx="9056700" cy="42906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0" lvl="0" marL="0" rtl="0" algn="ctr">
              <a:lnSpc>
                <a:spcPct val="115000"/>
              </a:lnSpc>
              <a:spcBef>
                <a:spcPts val="1800"/>
              </a:spcBef>
              <a:spcAft>
                <a:spcPts val="0"/>
              </a:spcAft>
              <a:buClr>
                <a:schemeClr val="dk1"/>
              </a:buClr>
              <a:buSzPts val="1100"/>
              <a:buFont typeface="Arial"/>
              <a:buNone/>
            </a:pPr>
            <a:r>
              <a:rPr b="1" lang="en" sz="1700">
                <a:solidFill>
                  <a:schemeClr val="dk1"/>
                </a:solidFill>
                <a:latin typeface="Roboto"/>
                <a:ea typeface="Roboto"/>
                <a:cs typeface="Roboto"/>
                <a:sym typeface="Roboto"/>
              </a:rPr>
              <a:t> </a:t>
            </a:r>
            <a:r>
              <a:rPr b="1" lang="en" sz="1500">
                <a:solidFill>
                  <a:schemeClr val="dk1"/>
                </a:solidFill>
                <a:latin typeface="Roboto"/>
                <a:ea typeface="Roboto"/>
                <a:cs typeface="Roboto"/>
                <a:sym typeface="Roboto"/>
              </a:rPr>
              <a:t>Complaints</a:t>
            </a:r>
            <a:endParaRPr b="1" sz="1500">
              <a:solidFill>
                <a:schemeClr val="dk1"/>
              </a:solidFill>
              <a:latin typeface="Roboto"/>
              <a:ea typeface="Roboto"/>
              <a:cs typeface="Roboto"/>
              <a:sym typeface="Roboto"/>
            </a:endParaRPr>
          </a:p>
          <a:p>
            <a:pPr indent="-304800" lvl="0" marL="457200" rtl="0" algn="l">
              <a:lnSpc>
                <a:spcPct val="115000"/>
              </a:lnSpc>
              <a:spcBef>
                <a:spcPts val="400"/>
              </a:spcBef>
              <a:spcAft>
                <a:spcPts val="0"/>
              </a:spcAft>
              <a:buClr>
                <a:schemeClr val="dk1"/>
              </a:buClr>
              <a:buSzPts val="1200"/>
              <a:buFont typeface="Roboto"/>
              <a:buChar char="●"/>
            </a:pPr>
            <a:r>
              <a:rPr lang="en" sz="1200">
                <a:solidFill>
                  <a:schemeClr val="dk1"/>
                </a:solidFill>
                <a:latin typeface="Roboto"/>
                <a:ea typeface="Roboto"/>
                <a:cs typeface="Roboto"/>
                <a:sym typeface="Roboto"/>
              </a:rPr>
              <a:t>Top issues reported in 2025 are long wait times (affecting up to 60% of customers), repeated information requests (72% complaint rate), and slow or ineffective resolution resulting in 57% switching brands after one bad experience.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Customer contact volume has increased 20% since 2020, putting more strain on support teams and highlighting the need for AI-driven automation to improve speed, accuracy, and consistency.</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p:txBody>
      </p:sp>
      <p:sp>
        <p:nvSpPr>
          <p:cNvPr id="106" name="Google Shape;106;p31"/>
          <p:cNvSpPr txBox="1"/>
          <p:nvPr/>
        </p:nvSpPr>
        <p:spPr>
          <a:xfrm>
            <a:off x="2415150" y="2825175"/>
            <a:ext cx="4567800" cy="1057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800"/>
              </a:spcBef>
              <a:spcAft>
                <a:spcPts val="0"/>
              </a:spcAft>
              <a:buNone/>
            </a:pPr>
            <a:r>
              <a:rPr b="1" lang="en" sz="1500">
                <a:latin typeface="Roboto"/>
                <a:ea typeface="Roboto"/>
                <a:cs typeface="Roboto"/>
                <a:sym typeface="Roboto"/>
              </a:rPr>
              <a:t>Key Bottlenecks Identified in Current Workflow</a:t>
            </a:r>
            <a:endParaRPr b="1" sz="1500">
              <a:latin typeface="Roboto"/>
              <a:ea typeface="Roboto"/>
              <a:cs typeface="Roboto"/>
              <a:sym typeface="Roboto"/>
            </a:endParaRPr>
          </a:p>
          <a:p>
            <a:pPr indent="0" lvl="0" marL="0" rtl="0" algn="ctr">
              <a:lnSpc>
                <a:spcPct val="115000"/>
              </a:lnSpc>
              <a:spcBef>
                <a:spcPts val="1800"/>
              </a:spcBef>
              <a:spcAft>
                <a:spcPts val="0"/>
              </a:spcAft>
              <a:buNone/>
            </a:pPr>
            <a:r>
              <a:t/>
            </a:r>
            <a:endParaRPr b="1" sz="1200">
              <a:latin typeface="Roboto"/>
              <a:ea typeface="Roboto"/>
              <a:cs typeface="Roboto"/>
              <a:sym typeface="Roboto"/>
            </a:endParaRPr>
          </a:p>
          <a:p>
            <a:pPr indent="0" lvl="0" marL="0" rtl="0" algn="ctr">
              <a:lnSpc>
                <a:spcPct val="115000"/>
              </a:lnSpc>
              <a:spcBef>
                <a:spcPts val="1800"/>
              </a:spcBef>
              <a:spcAft>
                <a:spcPts val="400"/>
              </a:spcAft>
              <a:buNone/>
            </a:pPr>
            <a:r>
              <a:t/>
            </a:r>
            <a:endParaRPr b="1" sz="1200">
              <a:latin typeface="Roboto"/>
              <a:ea typeface="Roboto"/>
              <a:cs typeface="Roboto"/>
              <a:sym typeface="Roboto"/>
            </a:endParaRPr>
          </a:p>
        </p:txBody>
      </p:sp>
      <p:graphicFrame>
        <p:nvGraphicFramePr>
          <p:cNvPr id="107" name="Google Shape;107;p31"/>
          <p:cNvGraphicFramePr/>
          <p:nvPr/>
        </p:nvGraphicFramePr>
        <p:xfrm>
          <a:off x="408900" y="3227325"/>
          <a:ext cx="3000000" cy="3000000"/>
        </p:xfrm>
        <a:graphic>
          <a:graphicData uri="http://schemas.openxmlformats.org/drawingml/2006/table">
            <a:tbl>
              <a:tblPr>
                <a:noFill/>
                <a:tableStyleId>{518E12C2-9382-4448-9590-6D7A7A2620EE}</a:tableStyleId>
              </a:tblPr>
              <a:tblGrid>
                <a:gridCol w="2794975"/>
                <a:gridCol w="2794975"/>
                <a:gridCol w="2794975"/>
              </a:tblGrid>
              <a:tr h="407525">
                <a:tc>
                  <a:txBody>
                    <a:bodyPr/>
                    <a:lstStyle/>
                    <a:p>
                      <a:pPr indent="0" lvl="0" marL="0" rtl="0" algn="l">
                        <a:spcBef>
                          <a:spcPts val="0"/>
                        </a:spcBef>
                        <a:spcAft>
                          <a:spcPts val="0"/>
                        </a:spcAft>
                        <a:buNone/>
                      </a:pPr>
                      <a:r>
                        <a:rPr b="1" lang="en" sz="1000"/>
                        <a:t>Workflow Stage</a:t>
                      </a:r>
                      <a:endParaRPr b="1" sz="1000"/>
                    </a:p>
                  </a:txBody>
                  <a:tcPr marT="91425" marB="91425" marR="91425" marL="91425">
                    <a:noFill/>
                  </a:tcPr>
                </a:tc>
                <a:tc>
                  <a:txBody>
                    <a:bodyPr/>
                    <a:lstStyle/>
                    <a:p>
                      <a:pPr indent="0" lvl="0" marL="0" rtl="0" algn="l">
                        <a:spcBef>
                          <a:spcPts val="0"/>
                        </a:spcBef>
                        <a:spcAft>
                          <a:spcPts val="0"/>
                        </a:spcAft>
                        <a:buNone/>
                      </a:pPr>
                      <a:r>
                        <a:rPr b="1" lang="en" sz="1000"/>
                        <a:t>Problem</a:t>
                      </a:r>
                      <a:endParaRPr b="1" sz="1000"/>
                    </a:p>
                  </a:txBody>
                  <a:tcPr marT="91425" marB="91425" marR="91425" marL="91425">
                    <a:noFill/>
                  </a:tcPr>
                </a:tc>
                <a:tc>
                  <a:txBody>
                    <a:bodyPr/>
                    <a:lstStyle/>
                    <a:p>
                      <a:pPr indent="0" lvl="0" marL="0" rtl="0" algn="l">
                        <a:spcBef>
                          <a:spcPts val="0"/>
                        </a:spcBef>
                        <a:spcAft>
                          <a:spcPts val="0"/>
                        </a:spcAft>
                        <a:buNone/>
                      </a:pPr>
                      <a:r>
                        <a:rPr b="1" lang="en" sz="1000"/>
                        <a:t>Impact</a:t>
                      </a:r>
                      <a:endParaRPr b="1" sz="1000"/>
                    </a:p>
                  </a:txBody>
                  <a:tcPr marT="91425" marB="91425" marR="91425" marL="91425">
                    <a:noFill/>
                  </a:tcPr>
                </a:tc>
              </a:tr>
              <a:tr h="407525">
                <a:tc>
                  <a:txBody>
                    <a:bodyPr/>
                    <a:lstStyle/>
                    <a:p>
                      <a:pPr indent="0" lvl="0" marL="0" rtl="0" algn="l">
                        <a:spcBef>
                          <a:spcPts val="0"/>
                        </a:spcBef>
                        <a:spcAft>
                          <a:spcPts val="0"/>
                        </a:spcAft>
                        <a:buNone/>
                      </a:pPr>
                      <a:r>
                        <a:rPr lang="en" sz="1200"/>
                        <a:t>Manual logging</a:t>
                      </a:r>
                      <a:endParaRPr sz="1000"/>
                    </a:p>
                  </a:txBody>
                  <a:tcPr marT="91425" marB="91425" marR="91425" marL="91425">
                    <a:noFill/>
                  </a:tcPr>
                </a:tc>
                <a:tc>
                  <a:txBody>
                    <a:bodyPr/>
                    <a:lstStyle/>
                    <a:p>
                      <a:pPr indent="0" lvl="0" marL="0" rtl="0" algn="l">
                        <a:spcBef>
                          <a:spcPts val="0"/>
                        </a:spcBef>
                        <a:spcAft>
                          <a:spcPts val="0"/>
                        </a:spcAft>
                        <a:buNone/>
                      </a:pPr>
                      <a:r>
                        <a:rPr lang="en" sz="1200"/>
                        <a:t>Slow, error prone data entry</a:t>
                      </a:r>
                      <a:endParaRPr sz="1200"/>
                    </a:p>
                  </a:txBody>
                  <a:tcPr marT="91425" marB="91425" marR="91425" marL="91425">
                    <a:noFill/>
                  </a:tcPr>
                </a:tc>
                <a:tc>
                  <a:txBody>
                    <a:bodyPr/>
                    <a:lstStyle/>
                    <a:p>
                      <a:pPr indent="0" lvl="0" marL="0" rtl="0" algn="l">
                        <a:spcBef>
                          <a:spcPts val="0"/>
                        </a:spcBef>
                        <a:spcAft>
                          <a:spcPts val="0"/>
                        </a:spcAft>
                        <a:buNone/>
                      </a:pPr>
                      <a:r>
                        <a:rPr lang="en" sz="1200"/>
                        <a:t>Delays, lost tickets</a:t>
                      </a:r>
                      <a:endParaRPr sz="1200"/>
                    </a:p>
                  </a:txBody>
                  <a:tcPr marT="91425" marB="91425" marR="91425" marL="91425">
                    <a:noFill/>
                  </a:tcPr>
                </a:tc>
              </a:tr>
              <a:tr h="407525">
                <a:tc>
                  <a:txBody>
                    <a:bodyPr/>
                    <a:lstStyle/>
                    <a:p>
                      <a:pPr indent="0" lvl="0" marL="0" rtl="0" algn="l">
                        <a:spcBef>
                          <a:spcPts val="0"/>
                        </a:spcBef>
                        <a:spcAft>
                          <a:spcPts val="0"/>
                        </a:spcAft>
                        <a:buNone/>
                      </a:pPr>
                      <a:r>
                        <a:rPr lang="en" sz="1200"/>
                        <a:t>Supervisor Ticket Assignment</a:t>
                      </a:r>
                      <a:endParaRPr sz="1200"/>
                    </a:p>
                  </a:txBody>
                  <a:tcPr marT="91425" marB="91425" marR="91425" marL="91425">
                    <a:noFill/>
                  </a:tcPr>
                </a:tc>
                <a:tc>
                  <a:txBody>
                    <a:bodyPr/>
                    <a:lstStyle/>
                    <a:p>
                      <a:pPr indent="0" lvl="0" marL="0" rtl="0" algn="l">
                        <a:spcBef>
                          <a:spcPts val="0"/>
                        </a:spcBef>
                        <a:spcAft>
                          <a:spcPts val="0"/>
                        </a:spcAft>
                        <a:buNone/>
                      </a:pPr>
                      <a:r>
                        <a:rPr lang="en" sz="1200"/>
                        <a:t>Bottleneck, uneven workload</a:t>
                      </a:r>
                      <a:endParaRPr sz="1200"/>
                    </a:p>
                  </a:txBody>
                  <a:tcPr marT="91425" marB="91425" marR="91425" marL="91425">
                    <a:noFill/>
                  </a:tcPr>
                </a:tc>
                <a:tc>
                  <a:txBody>
                    <a:bodyPr/>
                    <a:lstStyle/>
                    <a:p>
                      <a:pPr indent="0" lvl="0" marL="0" rtl="0" algn="l">
                        <a:spcBef>
                          <a:spcPts val="0"/>
                        </a:spcBef>
                        <a:spcAft>
                          <a:spcPts val="0"/>
                        </a:spcAft>
                        <a:buNone/>
                      </a:pPr>
                      <a:r>
                        <a:rPr lang="en" sz="1200"/>
                        <a:t>Longer response times</a:t>
                      </a:r>
                      <a:endParaRPr sz="1200"/>
                    </a:p>
                  </a:txBody>
                  <a:tcPr marT="91425" marB="91425" marR="91425" marL="91425">
                    <a:noFill/>
                  </a:tcPr>
                </a:tc>
              </a:tr>
              <a:tr h="407525">
                <a:tc>
                  <a:txBody>
                    <a:bodyPr/>
                    <a:lstStyle/>
                    <a:p>
                      <a:pPr indent="0" lvl="0" marL="0" rtl="0" algn="l">
                        <a:spcBef>
                          <a:spcPts val="0"/>
                        </a:spcBef>
                        <a:spcAft>
                          <a:spcPts val="0"/>
                        </a:spcAft>
                        <a:buNone/>
                      </a:pPr>
                      <a:r>
                        <a:rPr lang="en" sz="1200"/>
                        <a:t>Escalation</a:t>
                      </a:r>
                      <a:endParaRPr sz="1200"/>
                    </a:p>
                  </a:txBody>
                  <a:tcPr marT="91425" marB="91425" marR="91425" marL="91425">
                    <a:noFill/>
                  </a:tcPr>
                </a:tc>
                <a:tc>
                  <a:txBody>
                    <a:bodyPr/>
                    <a:lstStyle/>
                    <a:p>
                      <a:pPr indent="0" lvl="0" marL="0" rtl="0" algn="l">
                        <a:spcBef>
                          <a:spcPts val="0"/>
                        </a:spcBef>
                        <a:spcAft>
                          <a:spcPts val="0"/>
                        </a:spcAft>
                        <a:buNone/>
                      </a:pPr>
                      <a:r>
                        <a:rPr lang="en" sz="1200"/>
                        <a:t>Lack of seamless handoff</a:t>
                      </a:r>
                      <a:endParaRPr sz="1200"/>
                    </a:p>
                  </a:txBody>
                  <a:tcPr marT="91425" marB="91425" marR="91425" marL="91425">
                    <a:noFill/>
                  </a:tcPr>
                </a:tc>
                <a:tc>
                  <a:txBody>
                    <a:bodyPr/>
                    <a:lstStyle/>
                    <a:p>
                      <a:pPr indent="0" lvl="0" marL="0" rtl="0" algn="l">
                        <a:spcBef>
                          <a:spcPts val="0"/>
                        </a:spcBef>
                        <a:spcAft>
                          <a:spcPts val="0"/>
                        </a:spcAft>
                        <a:buNone/>
                      </a:pPr>
                      <a:r>
                        <a:rPr lang="en" sz="1200"/>
                        <a:t>Extended resolution time</a:t>
                      </a:r>
                      <a:endParaRPr sz="1200"/>
                    </a:p>
                  </a:txBody>
                  <a:tcPr marT="91425" marB="91425" marR="91425" marL="91425">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1" name="Shape 111"/>
        <p:cNvGrpSpPr/>
        <p:nvPr/>
      </p:nvGrpSpPr>
      <p:grpSpPr>
        <a:xfrm>
          <a:off x="0" y="0"/>
          <a:ext cx="0" cy="0"/>
          <a:chOff x="0" y="0"/>
          <a:chExt cx="0" cy="0"/>
        </a:xfrm>
      </p:grpSpPr>
      <p:sp>
        <p:nvSpPr>
          <p:cNvPr id="112" name="Google Shape;112;p32"/>
          <p:cNvSpPr txBox="1"/>
          <p:nvPr>
            <p:ph type="ctrTitle"/>
          </p:nvPr>
        </p:nvSpPr>
        <p:spPr>
          <a:xfrm>
            <a:off x="96875" y="348775"/>
            <a:ext cx="8520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1A1A1A"/>
                </a:solidFill>
                <a:latin typeface="Inter ExtraBold"/>
                <a:ea typeface="Inter ExtraBold"/>
                <a:cs typeface="Inter ExtraBold"/>
                <a:sym typeface="Inter ExtraBold"/>
              </a:rPr>
              <a:t>Proposed AI integration</a:t>
            </a:r>
            <a:endParaRPr sz="3000">
              <a:solidFill>
                <a:srgbClr val="1A1A1A"/>
              </a:solidFill>
              <a:latin typeface="Inter ExtraBold"/>
              <a:ea typeface="Inter ExtraBold"/>
              <a:cs typeface="Inter ExtraBold"/>
              <a:sym typeface="Inter ExtraBold"/>
            </a:endParaRPr>
          </a:p>
        </p:txBody>
      </p:sp>
      <p:sp>
        <p:nvSpPr>
          <p:cNvPr id="113" name="Google Shape;113;p32"/>
          <p:cNvSpPr/>
          <p:nvPr/>
        </p:nvSpPr>
        <p:spPr>
          <a:xfrm>
            <a:off x="0" y="1375825"/>
            <a:ext cx="3165000" cy="35391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rtl="0" algn="l">
              <a:spcBef>
                <a:spcPts val="0"/>
              </a:spcBef>
              <a:spcAft>
                <a:spcPts val="0"/>
              </a:spcAft>
              <a:buNone/>
            </a:pPr>
            <a:r>
              <a:rPr lang="en" sz="1000">
                <a:solidFill>
                  <a:srgbClr val="1A1A1A"/>
                </a:solidFill>
                <a:latin typeface="Inter Medium"/>
                <a:ea typeface="Inter Medium"/>
                <a:cs typeface="Inter Medium"/>
                <a:sym typeface="Inter Medium"/>
              </a:rPr>
              <a:t>Suggested AI tools and how they fit into the workflow:</a:t>
            </a:r>
            <a:endParaRPr sz="10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900">
              <a:solidFill>
                <a:srgbClr val="1A1A1A"/>
              </a:solidFill>
              <a:latin typeface="Inter Medium"/>
              <a:ea typeface="Inter Medium"/>
              <a:cs typeface="Inter Medium"/>
              <a:sym typeface="Inter Medium"/>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Zendesk AI, Salesforce Einstein, Forethought: Automate inquiry logging, classification, and prioritization for faster response times and error reduction.</a:t>
            </a:r>
            <a:endParaRPr sz="700">
              <a:solidFill>
                <a:schemeClr val="dk1"/>
              </a:solidFill>
              <a:latin typeface="Roboto"/>
              <a:ea typeface="Roboto"/>
              <a:cs typeface="Roboto"/>
              <a:sym typeface="Roboto"/>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Freshdesk Freddy AI, Crescendo.ai: Smart ticket routing and workload balancing improve agent productivity and reduce bottlenecks.</a:t>
            </a:r>
            <a:endParaRPr sz="700">
              <a:solidFill>
                <a:schemeClr val="dk1"/>
              </a:solidFill>
              <a:latin typeface="Roboto"/>
              <a:ea typeface="Roboto"/>
              <a:cs typeface="Roboto"/>
              <a:sym typeface="Roboto"/>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Ada, Tidio (Lyro AI), Intercom Fin AI: 24/7 AI chatbots handle routine queries instantly, offering consistent, personalized customer interactions and reducing human workload.</a:t>
            </a:r>
            <a:endParaRPr sz="700">
              <a:solidFill>
                <a:schemeClr val="dk1"/>
              </a:solidFill>
              <a:latin typeface="Roboto"/>
              <a:ea typeface="Roboto"/>
              <a:cs typeface="Roboto"/>
              <a:sym typeface="Roboto"/>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Twilio Studio, HubSpot Service Hub: Automate proactive status updates and follow-ups, enhancing transparency and customer trust.</a:t>
            </a:r>
            <a:endParaRPr sz="700">
              <a:solidFill>
                <a:schemeClr val="dk1"/>
              </a:solidFill>
              <a:latin typeface="Roboto"/>
              <a:ea typeface="Roboto"/>
              <a:cs typeface="Roboto"/>
              <a:sym typeface="Roboto"/>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Forethought Solve, OpenAI GPT-powered copilots: Support agents in real-time with suggestions and knowledge base access, decreasing resolution time and burnout.</a:t>
            </a:r>
            <a:endParaRPr sz="700">
              <a:solidFill>
                <a:schemeClr val="dk1"/>
              </a:solidFill>
              <a:latin typeface="Roboto"/>
              <a:ea typeface="Roboto"/>
              <a:cs typeface="Roboto"/>
              <a:sym typeface="Roboto"/>
            </a:endParaRPr>
          </a:p>
          <a:p>
            <a:pPr indent="-273050" lvl="0" marL="457200" rtl="0" algn="l">
              <a:lnSpc>
                <a:spcPct val="115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Crescendo.ai, Zendesk Explore: Perform sentiment analysis on feedback to drive continuous quality improvements.</a:t>
            </a:r>
            <a:endParaRPr sz="700">
              <a:solidFill>
                <a:schemeClr val="dk1"/>
              </a:solidFill>
              <a:latin typeface="Roboto"/>
              <a:ea typeface="Roboto"/>
              <a:cs typeface="Roboto"/>
              <a:sym typeface="Roboto"/>
            </a:endParaRPr>
          </a:p>
          <a:p>
            <a:pPr indent="0" lvl="0" marL="0" rtl="0" algn="l">
              <a:spcBef>
                <a:spcPts val="0"/>
              </a:spcBef>
              <a:spcAft>
                <a:spcPts val="0"/>
              </a:spcAft>
              <a:buNone/>
            </a:pPr>
            <a:r>
              <a:t/>
            </a:r>
            <a:endParaRPr sz="800">
              <a:solidFill>
                <a:srgbClr val="1A1A1A"/>
              </a:solidFill>
              <a:latin typeface="Inter Medium"/>
              <a:ea typeface="Inter Medium"/>
              <a:cs typeface="Inter Medium"/>
              <a:sym typeface="Inter Medium"/>
            </a:endParaRPr>
          </a:p>
        </p:txBody>
      </p:sp>
      <p:sp>
        <p:nvSpPr>
          <p:cNvPr id="114" name="Google Shape;114;p32"/>
          <p:cNvSpPr/>
          <p:nvPr/>
        </p:nvSpPr>
        <p:spPr>
          <a:xfrm>
            <a:off x="3209550" y="1375825"/>
            <a:ext cx="2931000" cy="35391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marR="0" rtl="0" algn="l">
              <a:spcBef>
                <a:spcPts val="0"/>
              </a:spcBef>
              <a:spcAft>
                <a:spcPts val="0"/>
              </a:spcAft>
              <a:buClr>
                <a:schemeClr val="dk1"/>
              </a:buClr>
              <a:buSzPts val="1100"/>
              <a:buFont typeface="Arial"/>
              <a:buNone/>
            </a:pPr>
            <a:r>
              <a:rPr lang="en" sz="1000">
                <a:solidFill>
                  <a:srgbClr val="1A1A1A"/>
                </a:solidFill>
                <a:latin typeface="Inter Medium"/>
                <a:ea typeface="Inter Medium"/>
                <a:cs typeface="Inter Medium"/>
                <a:sym typeface="Inter Medium"/>
              </a:rPr>
              <a:t>Expected benefits and improvements:</a:t>
            </a:r>
            <a:endParaRPr sz="1000">
              <a:solidFill>
                <a:srgbClr val="1A1A1A"/>
              </a:solidFill>
              <a:latin typeface="Inter Medium"/>
              <a:ea typeface="Inter Medium"/>
              <a:cs typeface="Inter Medium"/>
              <a:sym typeface="Inter Medium"/>
            </a:endParaRPr>
          </a:p>
          <a:p>
            <a:pPr indent="0" lvl="0" marL="0" marR="0" rtl="0" algn="l">
              <a:spcBef>
                <a:spcPts val="0"/>
              </a:spcBef>
              <a:spcAft>
                <a:spcPts val="0"/>
              </a:spcAft>
              <a:buClr>
                <a:schemeClr val="dk1"/>
              </a:buClr>
              <a:buSzPts val="1100"/>
              <a:buFont typeface="Arial"/>
              <a:buNone/>
            </a:pPr>
            <a:r>
              <a:t/>
            </a:r>
            <a:endParaRPr sz="1000">
              <a:solidFill>
                <a:srgbClr val="1A1A1A"/>
              </a:solidFill>
              <a:latin typeface="Inter Medium"/>
              <a:ea typeface="Inter Medium"/>
              <a:cs typeface="Inter Medium"/>
              <a:sym typeface="Inter Medium"/>
            </a:endParaRPr>
          </a:p>
          <a:p>
            <a:pPr indent="0" lvl="0" marL="0" rtl="0" algn="l">
              <a:lnSpc>
                <a:spcPct val="150000"/>
              </a:lnSpc>
              <a:spcBef>
                <a:spcPts val="0"/>
              </a:spcBef>
              <a:spcAft>
                <a:spcPts val="0"/>
              </a:spcAft>
              <a:buNone/>
            </a:pPr>
            <a:r>
              <a:t/>
            </a:r>
            <a:endParaRPr sz="1000">
              <a:solidFill>
                <a:srgbClr val="1A1A1A"/>
              </a:solidFill>
              <a:latin typeface="Inter Medium"/>
              <a:ea typeface="Inter Medium"/>
              <a:cs typeface="Inter Medium"/>
              <a:sym typeface="Inter Medium"/>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Faster response and resolution times with 24/7 AI-powered support</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Increased agent productivity by automating routine tasks and smart ticket routing</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Scalable support operations that handle surges without proportional headcount increases</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Personalized, context-aware customer experiences improving satisfaction and loyalty</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Proactive status updates and transparent communication reduce frustration</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Continuous improvement through data-driven insights and feedback analysis</a:t>
            </a:r>
            <a:endParaRPr sz="7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t/>
            </a:r>
            <a:endParaRPr sz="10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000">
              <a:solidFill>
                <a:schemeClr val="dk1"/>
              </a:solidFill>
              <a:latin typeface="Roboto"/>
              <a:ea typeface="Roboto"/>
              <a:cs typeface="Roboto"/>
              <a:sym typeface="Roboto"/>
            </a:endParaRPr>
          </a:p>
          <a:p>
            <a:pPr indent="0" lvl="0" marL="457200" marR="0" rtl="0" algn="l">
              <a:spcBef>
                <a:spcPts val="0"/>
              </a:spcBef>
              <a:spcAft>
                <a:spcPts val="0"/>
              </a:spcAft>
              <a:buNone/>
            </a:pPr>
            <a:r>
              <a:t/>
            </a:r>
            <a:endParaRPr sz="2200"/>
          </a:p>
        </p:txBody>
      </p:sp>
      <p:sp>
        <p:nvSpPr>
          <p:cNvPr id="115" name="Google Shape;115;p32"/>
          <p:cNvSpPr/>
          <p:nvPr/>
        </p:nvSpPr>
        <p:spPr>
          <a:xfrm>
            <a:off x="6185150" y="1386475"/>
            <a:ext cx="2931000" cy="35178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rtl="0" algn="l">
              <a:spcBef>
                <a:spcPts val="0"/>
              </a:spcBef>
              <a:spcAft>
                <a:spcPts val="0"/>
              </a:spcAft>
              <a:buClr>
                <a:schemeClr val="dk1"/>
              </a:buClr>
              <a:buSzPts val="1100"/>
              <a:buFont typeface="Arial"/>
              <a:buNone/>
            </a:pPr>
            <a:r>
              <a:rPr lang="en" sz="1000">
                <a:solidFill>
                  <a:srgbClr val="1A1A1A"/>
                </a:solidFill>
                <a:latin typeface="Inter Medium"/>
                <a:ea typeface="Inter Medium"/>
                <a:cs typeface="Inter Medium"/>
                <a:sym typeface="Inter Medium"/>
              </a:rPr>
              <a:t>Potential risks or limitations:</a:t>
            </a:r>
            <a:endParaRPr sz="1600">
              <a:solidFill>
                <a:srgbClr val="1A1A1A"/>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t/>
            </a:r>
            <a:endParaRPr sz="1600">
              <a:solidFill>
                <a:srgbClr val="1A1A1A"/>
              </a:solidFill>
              <a:latin typeface="Inter Medium"/>
              <a:ea typeface="Inter Medium"/>
              <a:cs typeface="Inter Medium"/>
              <a:sym typeface="Inter Medium"/>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Over-reliance on AI potentially reducing human empathy; mitigate by maintaining human oversight and escalation options</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Data privacy and security concerns requiring robust compliance and protection measures</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Integration complexity with existing CRM and enterprise tools that may be costly or time-consuming</a:t>
            </a:r>
            <a:endParaRPr sz="700">
              <a:solidFill>
                <a:schemeClr val="dk1"/>
              </a:solidFill>
              <a:latin typeface="Roboto"/>
              <a:ea typeface="Roboto"/>
              <a:cs typeface="Roboto"/>
              <a:sym typeface="Roboto"/>
            </a:endParaRPr>
          </a:p>
          <a:p>
            <a:pPr indent="-273050" lvl="0" marL="457200" rtl="0" algn="l">
              <a:lnSpc>
                <a:spcPct val="150000"/>
              </a:lnSpc>
              <a:spcBef>
                <a:spcPts val="0"/>
              </a:spcBef>
              <a:spcAft>
                <a:spcPts val="0"/>
              </a:spcAft>
              <a:buClr>
                <a:schemeClr val="dk1"/>
              </a:buClr>
              <a:buSzPts val="700"/>
              <a:buFont typeface="Roboto"/>
              <a:buChar char="●"/>
            </a:pPr>
            <a:r>
              <a:rPr lang="en" sz="700">
                <a:solidFill>
                  <a:schemeClr val="dk1"/>
                </a:solidFill>
                <a:latin typeface="Roboto"/>
                <a:ea typeface="Roboto"/>
                <a:cs typeface="Roboto"/>
                <a:sym typeface="Roboto"/>
              </a:rPr>
              <a:t>Customer resistance to automation; address by clearly communicating AI benefits and offering easy access to human agents</a:t>
            </a:r>
            <a:endParaRPr sz="7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9" name="Shape 119"/>
        <p:cNvGrpSpPr/>
        <p:nvPr/>
      </p:nvGrpSpPr>
      <p:grpSpPr>
        <a:xfrm>
          <a:off x="0" y="0"/>
          <a:ext cx="0" cy="0"/>
          <a:chOff x="0" y="0"/>
          <a:chExt cx="0" cy="0"/>
        </a:xfrm>
      </p:grpSpPr>
      <p:sp>
        <p:nvSpPr>
          <p:cNvPr id="120" name="Google Shape;120;p33"/>
          <p:cNvSpPr txBox="1"/>
          <p:nvPr>
            <p:ph type="ctrTitle"/>
          </p:nvPr>
        </p:nvSpPr>
        <p:spPr>
          <a:xfrm>
            <a:off x="0" y="-142625"/>
            <a:ext cx="85206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solidFill>
                  <a:srgbClr val="1A1A1A"/>
                </a:solidFill>
                <a:latin typeface="Inter ExtraBold"/>
                <a:ea typeface="Inter ExtraBold"/>
                <a:cs typeface="Inter ExtraBold"/>
                <a:sym typeface="Inter ExtraBold"/>
              </a:rPr>
              <a:t>Updated</a:t>
            </a:r>
            <a:r>
              <a:rPr lang="en" sz="2500">
                <a:solidFill>
                  <a:srgbClr val="1A1A1A"/>
                </a:solidFill>
                <a:latin typeface="Inter ExtraBold"/>
                <a:ea typeface="Inter ExtraBold"/>
                <a:cs typeface="Inter ExtraBold"/>
                <a:sym typeface="Inter ExtraBold"/>
              </a:rPr>
              <a:t> Workflow </a:t>
            </a:r>
            <a:r>
              <a:rPr lang="en" sz="2500">
                <a:solidFill>
                  <a:srgbClr val="1A1A1A"/>
                </a:solidFill>
                <a:latin typeface="Inter ExtraBold"/>
                <a:ea typeface="Inter ExtraBold"/>
                <a:cs typeface="Inter ExtraBold"/>
                <a:sym typeface="Inter ExtraBold"/>
              </a:rPr>
              <a:t>with AI </a:t>
            </a:r>
            <a:endParaRPr sz="2500">
              <a:solidFill>
                <a:srgbClr val="1A1A1A"/>
              </a:solidFill>
              <a:latin typeface="Inter ExtraBold"/>
              <a:ea typeface="Inter ExtraBold"/>
              <a:cs typeface="Inter ExtraBold"/>
              <a:sym typeface="Inter ExtraBold"/>
            </a:endParaRPr>
          </a:p>
        </p:txBody>
      </p:sp>
      <p:sp>
        <p:nvSpPr>
          <p:cNvPr id="121" name="Google Shape;121;p33"/>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22" name="Google Shape;122;p33"/>
          <p:cNvPicPr preferRelativeResize="0"/>
          <p:nvPr/>
        </p:nvPicPr>
        <p:blipFill>
          <a:blip r:embed="rId3">
            <a:alphaModFix/>
          </a:blip>
          <a:stretch>
            <a:fillRect/>
          </a:stretch>
        </p:blipFill>
        <p:spPr>
          <a:xfrm>
            <a:off x="42275" y="326750"/>
            <a:ext cx="9101724" cy="4783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6" name="Shape 126"/>
        <p:cNvGrpSpPr/>
        <p:nvPr/>
      </p:nvGrpSpPr>
      <p:grpSpPr>
        <a:xfrm>
          <a:off x="0" y="0"/>
          <a:ext cx="0" cy="0"/>
          <a:chOff x="0" y="0"/>
          <a:chExt cx="0" cy="0"/>
        </a:xfrm>
      </p:grpSpPr>
      <p:pic>
        <p:nvPicPr>
          <p:cNvPr id="127" name="Google Shape;127;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8" name="Google Shape;128;p34"/>
          <p:cNvSpPr txBox="1"/>
          <p:nvPr>
            <p:ph type="ctrTitle"/>
          </p:nvPr>
        </p:nvSpPr>
        <p:spPr>
          <a:xfrm>
            <a:off x="96875" y="424975"/>
            <a:ext cx="8520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1A1A1A"/>
                </a:solidFill>
                <a:latin typeface="Inter ExtraBold"/>
                <a:ea typeface="Inter ExtraBold"/>
                <a:cs typeface="Inter ExtraBold"/>
                <a:sym typeface="Inter ExtraBold"/>
              </a:rPr>
              <a:t>Conclusion</a:t>
            </a:r>
            <a:endParaRPr sz="3000">
              <a:solidFill>
                <a:srgbClr val="1A1A1A"/>
              </a:solidFill>
              <a:latin typeface="Inter ExtraBold"/>
              <a:ea typeface="Inter ExtraBold"/>
              <a:cs typeface="Inter ExtraBold"/>
              <a:sym typeface="Inter ExtraBold"/>
            </a:endParaRPr>
          </a:p>
        </p:txBody>
      </p:sp>
      <p:sp>
        <p:nvSpPr>
          <p:cNvPr id="129" name="Google Shape;129;p34"/>
          <p:cNvSpPr txBox="1"/>
          <p:nvPr>
            <p:ph idx="1" type="subTitle"/>
          </p:nvPr>
        </p:nvSpPr>
        <p:spPr>
          <a:xfrm>
            <a:off x="198350" y="2212225"/>
            <a:ext cx="8896800" cy="1785600"/>
          </a:xfrm>
          <a:prstGeom prst="rect">
            <a:avLst/>
          </a:prstGeom>
          <a:noFill/>
          <a:ln>
            <a:noFill/>
          </a:ln>
        </p:spPr>
        <p:txBody>
          <a:bodyPr anchorCtr="0" anchor="b"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Roboto"/>
                <a:ea typeface="Roboto"/>
                <a:cs typeface="Roboto"/>
                <a:sym typeface="Roboto"/>
              </a:rPr>
              <a:t>Integrating AI technologies into the customer support workflow offers a transformative opportunity to eliminate bottlenecks, accelerate response times, and deliver consistently excellent service. By automating routine tasks, enabling intelligent ticket routing, and empowering agents with real-time assistance, this approach enhances both efficiency and customer satisfaction. While careful attention to privacy, human oversight, and gradual implementation is essential, the benefits of AI-driven support—such as scalability, personalization, and proactive communication—position the business for long-term success in an increasingly digital and customer-centric landscape. Embracing AI today means building a smarter, faster, and more empathetic customer support experience for tomorrow.</a:t>
            </a:r>
            <a:endParaRPr sz="2200">
              <a:solidFill>
                <a:srgbClr val="1A1A1A"/>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